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4C0C59F-C6D8-4C82-AFA7-9CDAE8429C77}">
  <a:tblStyle styleId="{04C0C59F-C6D8-4C82-AFA7-9CDAE8429C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c7aa8ce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c7aa8ce0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bd2a6c86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bd2a6c86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c0b0693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c0b0693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c0b0693f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c0b0693f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c0b0693fd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c0b0693fd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c2d885a9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c2d885a9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c0b0693f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c0b0693fd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c2d885a9c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c2d885a9c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c4eac408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c4eac408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c54134e0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c54134e0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0"/>
            <a:ext cx="8520600" cy="82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Final Project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898100" y="4681800"/>
            <a:ext cx="5347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dk1"/>
                </a:solidFill>
              </a:rPr>
              <a:t>Ivar Boström( 2202283)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6679358" y="874800"/>
            <a:ext cx="1560300" cy="10398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5135156" y="874800"/>
            <a:ext cx="2080500" cy="1039800"/>
          </a:xfrm>
          <a:prstGeom prst="chevron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3400" tIns="213400" rIns="213400" bIns="2134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68"/>
          </a:p>
        </p:txBody>
      </p:sp>
      <p:sp>
        <p:nvSpPr>
          <p:cNvPr id="62" name="Google Shape;62;p14"/>
          <p:cNvSpPr txBox="1"/>
          <p:nvPr/>
        </p:nvSpPr>
        <p:spPr>
          <a:xfrm>
            <a:off x="0" y="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 b="1"/>
              <a:t>Original Problem: Project Euler 917</a:t>
            </a:r>
            <a:endParaRPr sz="1800" b="1"/>
          </a:p>
        </p:txBody>
      </p:sp>
      <p:sp>
        <p:nvSpPr>
          <p:cNvPr id="63" name="Google Shape;63;p14"/>
          <p:cNvSpPr/>
          <p:nvPr/>
        </p:nvSpPr>
        <p:spPr>
          <a:xfrm>
            <a:off x="463708" y="874800"/>
            <a:ext cx="2080500" cy="1039800"/>
          </a:xfrm>
          <a:prstGeom prst="homePlate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3400" tIns="213400" rIns="213400" bIns="213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RNG formula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+ seed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2023951" y="874800"/>
            <a:ext cx="2080500" cy="1039800"/>
          </a:xfrm>
          <a:prstGeom prst="chevron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3400" tIns="213400" rIns="213400" bIns="213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68"/>
          </a:p>
        </p:txBody>
      </p:sp>
      <p:sp>
        <p:nvSpPr>
          <p:cNvPr id="65" name="Google Shape;65;p14"/>
          <p:cNvSpPr/>
          <p:nvPr/>
        </p:nvSpPr>
        <p:spPr>
          <a:xfrm>
            <a:off x="3571531" y="874800"/>
            <a:ext cx="2080500" cy="1039800"/>
          </a:xfrm>
          <a:prstGeom prst="chevron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3400" tIns="213400" rIns="213400" bIns="213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>
                <a:solidFill>
                  <a:schemeClr val="dk1"/>
                </a:solidFill>
              </a:rPr>
              <a:t>Matrix</a:t>
            </a:r>
            <a:endParaRPr sz="3268"/>
          </a:p>
        </p:txBody>
      </p:sp>
      <p:sp>
        <p:nvSpPr>
          <p:cNvPr id="66" name="Google Shape;66;p14"/>
          <p:cNvSpPr txBox="1"/>
          <p:nvPr/>
        </p:nvSpPr>
        <p:spPr>
          <a:xfrm>
            <a:off x="2511758" y="1086900"/>
            <a:ext cx="1104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>
                <a:solidFill>
                  <a:schemeClr val="dk1"/>
                </a:solidFill>
              </a:rPr>
              <a:t>Number series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540621" y="1194600"/>
            <a:ext cx="150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Pathfinding</a:t>
            </a:r>
            <a:endParaRPr/>
          </a:p>
        </p:txBody>
      </p:sp>
      <p:cxnSp>
        <p:nvCxnSpPr>
          <p:cNvPr id="68" name="Google Shape;68;p14"/>
          <p:cNvCxnSpPr>
            <a:stCxn id="63" idx="2"/>
            <a:endCxn id="64" idx="2"/>
          </p:cNvCxnSpPr>
          <p:nvPr/>
        </p:nvCxnSpPr>
        <p:spPr>
          <a:xfrm rot="-5400000" flipH="1">
            <a:off x="2023858" y="1134750"/>
            <a:ext cx="600" cy="1560300"/>
          </a:xfrm>
          <a:prstGeom prst="curvedConnector3">
            <a:avLst>
              <a:gd name="adj1" fmla="val 882041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" name="Google Shape;69;p14"/>
          <p:cNvSpPr txBox="1"/>
          <p:nvPr/>
        </p:nvSpPr>
        <p:spPr>
          <a:xfrm>
            <a:off x="1244008" y="2371650"/>
            <a:ext cx="173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Not very interesting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4401783" y="1948363"/>
            <a:ext cx="250800" cy="461700"/>
          </a:xfrm>
          <a:prstGeom prst="triangle">
            <a:avLst>
              <a:gd name="adj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3615333" y="2371650"/>
            <a:ext cx="1992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Can’t be materialized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0" y="2872675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 b="1"/>
              <a:t>Optimized Problem:</a:t>
            </a:r>
            <a:endParaRPr sz="1800" b="1"/>
          </a:p>
        </p:txBody>
      </p:sp>
      <p:sp>
        <p:nvSpPr>
          <p:cNvPr id="73" name="Google Shape;73;p14"/>
          <p:cNvSpPr/>
          <p:nvPr/>
        </p:nvSpPr>
        <p:spPr>
          <a:xfrm>
            <a:off x="2244138" y="3608250"/>
            <a:ext cx="2080500" cy="1039800"/>
          </a:xfrm>
          <a:prstGeom prst="homePlate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3400" tIns="213400" rIns="213400" bIns="213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>
                <a:solidFill>
                  <a:schemeClr val="dk1"/>
                </a:solidFill>
              </a:rPr>
              <a:t>Number series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7134758" y="1194600"/>
            <a:ext cx="110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Final cost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5339558" y="3608250"/>
            <a:ext cx="1560300" cy="10398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3795356" y="3608250"/>
            <a:ext cx="2080500" cy="1039800"/>
          </a:xfrm>
          <a:prstGeom prst="chevron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3400" tIns="213400" rIns="213400" bIns="2134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68"/>
          </a:p>
        </p:txBody>
      </p:sp>
      <p:sp>
        <p:nvSpPr>
          <p:cNvPr id="77" name="Google Shape;77;p14"/>
          <p:cNvSpPr txBox="1"/>
          <p:nvPr/>
        </p:nvSpPr>
        <p:spPr>
          <a:xfrm>
            <a:off x="4200821" y="3928050"/>
            <a:ext cx="150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[...]</a:t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5794958" y="3928050"/>
            <a:ext cx="110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Final cost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/>
        </p:nvSpPr>
        <p:spPr>
          <a:xfrm>
            <a:off x="0" y="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 b="1">
                <a:solidFill>
                  <a:schemeClr val="dk1"/>
                </a:solidFill>
              </a:rPr>
              <a:t>Problem Details:</a:t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1869750" y="663150"/>
            <a:ext cx="54045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Input: Two pseudo random integer arrays A and B, of size 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Imagine a N✕N matrix M such that M[a][b]=</a:t>
            </a:r>
            <a:r>
              <a:rPr lang="sv">
                <a:solidFill>
                  <a:schemeClr val="dk1"/>
                </a:solidFill>
              </a:rPr>
              <a:t>A[a]+B[b]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Traverse M from [0][0] to [N-1][N-1], increasing either index by 1 at each step, and summing every traversed position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Find the lowest cost possible for such a path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1105750" y="3637125"/>
            <a:ext cx="3087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102022661, 661600260, 239894592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864751430, 328965239, 387052877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86" name="Google Shape;86;p15"/>
          <p:cNvGraphicFramePr/>
          <p:nvPr/>
        </p:nvGraphicFramePr>
        <p:xfrm>
          <a:off x="4503563" y="335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{04C0C59F-C6D8-4C82-AFA7-9CDAE8429C77}</a:tableStyleId>
              </a:tblPr>
              <a:tblGrid>
                <a:gridCol w="117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</a:rPr>
                        <a:t>966774091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430987900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626947469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1526351690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990565499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1048653137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1104646022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568859831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626947469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7" name="Google Shape;87;p15"/>
          <p:cNvGraphicFramePr/>
          <p:nvPr/>
        </p:nvGraphicFramePr>
        <p:xfrm>
          <a:off x="4503563" y="335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{04C0C59F-C6D8-4C82-AFA7-9CDAE8429C77}</a:tableStyleId>
              </a:tblPr>
              <a:tblGrid>
                <a:gridCol w="117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</a:rPr>
                        <a:t>966774091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</a:rPr>
                        <a:t>430987900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</a:rPr>
                        <a:t>626947469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</a:rPr>
                        <a:t>1526351690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</a:rPr>
                        <a:t>990565499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</a:rPr>
                        <a:t>1048653137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</a:rPr>
                        <a:t>1104646022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</a:rPr>
                        <a:t>568859831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</a:rPr>
                        <a:t>626947469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/>
        </p:nvSpPr>
        <p:spPr>
          <a:xfrm>
            <a:off x="0" y="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 b="1"/>
              <a:t>Ultra-naive solution: Separately calculate every path </a:t>
            </a:r>
            <a:endParaRPr sz="1800" b="1"/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400" y="502675"/>
            <a:ext cx="426720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/>
          <p:nvPr/>
        </p:nvSpPr>
        <p:spPr>
          <a:xfrm>
            <a:off x="2795604" y="1218788"/>
            <a:ext cx="250800" cy="461700"/>
          </a:xfrm>
          <a:prstGeom prst="triangle">
            <a:avLst>
              <a:gd name="adj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4164245" y="1218788"/>
            <a:ext cx="250800" cy="461700"/>
          </a:xfrm>
          <a:prstGeom prst="triangle">
            <a:avLst>
              <a:gd name="adj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6043508" y="1218788"/>
            <a:ext cx="250800" cy="461700"/>
          </a:xfrm>
          <a:prstGeom prst="triangle">
            <a:avLst>
              <a:gd name="adj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2182400" y="1591775"/>
            <a:ext cx="147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Length of paths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3506800" y="1591775"/>
            <a:ext cx="156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Number of paths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5129850" y="1591775"/>
            <a:ext cx="207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Way too many additions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0" y="2055675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 b="1"/>
              <a:t>General purpose state of the art: Dynamic programming </a:t>
            </a:r>
            <a:endParaRPr sz="1800" b="1"/>
          </a:p>
        </p:txBody>
      </p:sp>
      <p:pic>
        <p:nvPicPr>
          <p:cNvPr id="101" name="Google Shape;10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2425" y="2581075"/>
            <a:ext cx="8191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/>
          <p:nvPr/>
        </p:nvSpPr>
        <p:spPr>
          <a:xfrm>
            <a:off x="0" y="2971600"/>
            <a:ext cx="9144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Reasonably effective for small N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The Euler problem asks for N=10000000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We want fast computation for any input the memory can handle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The goal is O(N), requiring a heavily specialized algorithm.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0" y="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 b="1">
                <a:solidFill>
                  <a:schemeClr val="dk1"/>
                </a:solidFill>
              </a:rPr>
              <a:t>First realization: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0" y="461700"/>
            <a:ext cx="9144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We know every row and column must be traversed at least once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Thus, we can preemptively sum up the cost of all columns and rows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Then, at traversal, add the cost of the row or column stayed on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09" name="Google Shape;109;p17"/>
          <p:cNvGraphicFramePr/>
          <p:nvPr/>
        </p:nvGraphicFramePr>
        <p:xfrm>
          <a:off x="4741850" y="3614464"/>
          <a:ext cx="2356450" cy="792420"/>
        </p:xfrm>
        <a:graphic>
          <a:graphicData uri="http://schemas.openxmlformats.org/drawingml/2006/table">
            <a:tbl>
              <a:tblPr>
                <a:noFill/>
                <a:tableStyleId>{04C0C59F-C6D8-4C82-AFA7-9CDAE8429C77}</a:tableStyleId>
              </a:tblPr>
              <a:tblGrid>
                <a:gridCol w="117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0" name="Google Shape;110;p17"/>
          <p:cNvSpPr txBox="1"/>
          <p:nvPr/>
        </p:nvSpPr>
        <p:spPr>
          <a:xfrm>
            <a:off x="3684749" y="3328302"/>
            <a:ext cx="11097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dirty="0">
                <a:solidFill>
                  <a:schemeClr val="dk1"/>
                </a:solidFill>
              </a:rPr>
              <a:t>102022661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dirty="0">
                <a:solidFill>
                  <a:schemeClr val="dk1"/>
                </a:solidFill>
              </a:rPr>
              <a:t>661600260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 dirty="0">
                <a:solidFill>
                  <a:schemeClr val="dk1"/>
                </a:solidFill>
              </a:rPr>
              <a:t>239894592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4239599" y="3214264"/>
            <a:ext cx="432453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 dirty="0">
                <a:solidFill>
                  <a:schemeClr val="dk1"/>
                </a:solidFill>
              </a:rPr>
              <a:t>864751430	     328965239     387052877</a:t>
            </a: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112" name="Google Shape;112;p17"/>
          <p:cNvGraphicFramePr/>
          <p:nvPr/>
        </p:nvGraphicFramePr>
        <p:xfrm>
          <a:off x="2107400" y="3812564"/>
          <a:ext cx="1178225" cy="396210"/>
        </p:xfrm>
        <a:graphic>
          <a:graphicData uri="http://schemas.openxmlformats.org/drawingml/2006/table">
            <a:tbl>
              <a:tblPr>
                <a:noFill/>
                <a:tableStyleId>{04C0C59F-C6D8-4C82-AFA7-9CDAE8429C77}</a:tableStyleId>
              </a:tblPr>
              <a:tblGrid>
                <a:gridCol w="117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sv">
                          <a:solidFill>
                            <a:schemeClr val="dk1"/>
                          </a:solidFill>
                        </a:rPr>
                        <a:t>2584287059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17"/>
          <p:cNvSpPr txBox="1"/>
          <p:nvPr/>
        </p:nvSpPr>
        <p:spPr>
          <a:xfrm>
            <a:off x="1105750" y="1945838"/>
            <a:ext cx="3087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102022661, 661600260, 239894592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864751430, 328965239, 387052877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114" name="Google Shape;114;p17"/>
          <p:cNvGraphicFramePr/>
          <p:nvPr/>
        </p:nvGraphicFramePr>
        <p:xfrm>
          <a:off x="4503563" y="1659338"/>
          <a:ext cx="3534675" cy="1188630"/>
        </p:xfrm>
        <a:graphic>
          <a:graphicData uri="http://schemas.openxmlformats.org/drawingml/2006/table">
            <a:tbl>
              <a:tblPr>
                <a:noFill/>
                <a:tableStyleId>{04C0C59F-C6D8-4C82-AFA7-9CDAE8429C77}</a:tableStyleId>
              </a:tblPr>
              <a:tblGrid>
                <a:gridCol w="117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</a:rPr>
                        <a:t>966774091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430987900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626947469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1526351690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990565499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1048653137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1104646022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568859831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626947469</a:t>
                      </a:r>
                      <a:r>
                        <a:rPr lang="sv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/>
        </p:nvSpPr>
        <p:spPr>
          <a:xfrm>
            <a:off x="0" y="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 b="1">
                <a:solidFill>
                  <a:schemeClr val="dk1"/>
                </a:solidFill>
              </a:rPr>
              <a:t>Second realization:</a:t>
            </a:r>
            <a:endParaRPr/>
          </a:p>
        </p:txBody>
      </p:sp>
      <p:sp>
        <p:nvSpPr>
          <p:cNvPr id="120" name="Google Shape;120;p18"/>
          <p:cNvSpPr txBox="1"/>
          <p:nvPr/>
        </p:nvSpPr>
        <p:spPr>
          <a:xfrm>
            <a:off x="0" y="461700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We can also preemptively add the cost of fully traversing the cheapest row and cheapest column.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This allows us to subtract the cost of the cheapest row from all rows, and the cheapest column from columns.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21" name="Google Shape;121;p18"/>
          <p:cNvGraphicFramePr/>
          <p:nvPr/>
        </p:nvGraphicFramePr>
        <p:xfrm>
          <a:off x="4447600" y="1701885"/>
          <a:ext cx="2356450" cy="792420"/>
        </p:xfrm>
        <a:graphic>
          <a:graphicData uri="http://schemas.openxmlformats.org/drawingml/2006/table">
            <a:tbl>
              <a:tblPr>
                <a:noFill/>
                <a:tableStyleId>{04C0C59F-C6D8-4C82-AFA7-9CDAE8429C77}</a:tableStyleId>
              </a:tblPr>
              <a:tblGrid>
                <a:gridCol w="117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2" name="Google Shape;122;p18"/>
          <p:cNvSpPr txBox="1"/>
          <p:nvPr/>
        </p:nvSpPr>
        <p:spPr>
          <a:xfrm>
            <a:off x="3417275" y="1433717"/>
            <a:ext cx="11097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dirty="0">
                <a:solidFill>
                  <a:schemeClr val="dk1"/>
                </a:solidFill>
              </a:rPr>
              <a:t>102022661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dirty="0">
                <a:solidFill>
                  <a:schemeClr val="dk1"/>
                </a:solidFill>
              </a:rPr>
              <a:t>661600260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dirty="0">
                <a:solidFill>
                  <a:schemeClr val="dk1"/>
                </a:solidFill>
              </a:rPr>
              <a:t>239894592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3945349" y="1301685"/>
            <a:ext cx="371925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 dirty="0">
                <a:solidFill>
                  <a:schemeClr val="dk1"/>
                </a:solidFill>
              </a:rPr>
              <a:t>864751430	     328965239     387052877</a:t>
            </a: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124" name="Google Shape;124;p18"/>
          <p:cNvGraphicFramePr/>
          <p:nvPr/>
        </p:nvGraphicFramePr>
        <p:xfrm>
          <a:off x="1813150" y="1899985"/>
          <a:ext cx="1178225" cy="396210"/>
        </p:xfrm>
        <a:graphic>
          <a:graphicData uri="http://schemas.openxmlformats.org/drawingml/2006/table">
            <a:tbl>
              <a:tblPr>
                <a:noFill/>
                <a:tableStyleId>{04C0C59F-C6D8-4C82-AFA7-9CDAE8429C77}</a:tableStyleId>
              </a:tblPr>
              <a:tblGrid>
                <a:gridCol w="117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chemeClr val="dk1"/>
                          </a:solidFill>
                        </a:rPr>
                        <a:t>2584287059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5" name="Google Shape;125;p18"/>
          <p:cNvGraphicFramePr/>
          <p:nvPr/>
        </p:nvGraphicFramePr>
        <p:xfrm>
          <a:off x="4447600" y="3344735"/>
          <a:ext cx="2356450" cy="792420"/>
        </p:xfrm>
        <a:graphic>
          <a:graphicData uri="http://schemas.openxmlformats.org/drawingml/2006/table">
            <a:tbl>
              <a:tblPr>
                <a:noFill/>
                <a:tableStyleId>{04C0C59F-C6D8-4C82-AFA7-9CDAE8429C77}</a:tableStyleId>
              </a:tblPr>
              <a:tblGrid>
                <a:gridCol w="117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6" name="Google Shape;126;p18"/>
          <p:cNvSpPr txBox="1"/>
          <p:nvPr/>
        </p:nvSpPr>
        <p:spPr>
          <a:xfrm>
            <a:off x="3417275" y="3038347"/>
            <a:ext cx="11097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dirty="0">
                <a:solidFill>
                  <a:schemeClr val="dk1"/>
                </a:solidFill>
              </a:rPr>
              <a:t>       0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dirty="0">
                <a:solidFill>
                  <a:schemeClr val="dk1"/>
                </a:solidFill>
              </a:rPr>
              <a:t>559577599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dirty="0">
                <a:solidFill>
                  <a:schemeClr val="dk1"/>
                </a:solidFill>
              </a:rPr>
              <a:t>137871931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3945350" y="2944535"/>
            <a:ext cx="3786162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 dirty="0">
                <a:solidFill>
                  <a:schemeClr val="dk1"/>
                </a:solidFill>
              </a:rPr>
              <a:t>535786191             0               58087638</a:t>
            </a: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128" name="Google Shape;128;p18"/>
          <p:cNvGraphicFramePr/>
          <p:nvPr/>
        </p:nvGraphicFramePr>
        <p:xfrm>
          <a:off x="1813150" y="3542835"/>
          <a:ext cx="1178225" cy="396210"/>
        </p:xfrm>
        <a:graphic>
          <a:graphicData uri="http://schemas.openxmlformats.org/drawingml/2006/table">
            <a:tbl>
              <a:tblPr>
                <a:noFill/>
                <a:tableStyleId>{04C0C59F-C6D8-4C82-AFA7-9CDAE8429C77}</a:tableStyleId>
              </a:tblPr>
              <a:tblGrid>
                <a:gridCol w="117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3446262859</a:t>
                      </a:r>
                      <a:r>
                        <a:rPr lang="sv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/>
        </p:nvSpPr>
        <p:spPr>
          <a:xfrm>
            <a:off x="0" y="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 b="1">
                <a:solidFill>
                  <a:schemeClr val="dk1"/>
                </a:solidFill>
              </a:rPr>
              <a:t>Third realization:</a:t>
            </a: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0" y="461700"/>
            <a:ext cx="9144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The cheapest row(s) and column(s) are now free.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Traversal can be split into reaching either of them from the start and end.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>
                <a:solidFill>
                  <a:schemeClr val="dk1"/>
                </a:solidFill>
              </a:rPr>
              <a:t>In these images, we want to reach a red line from the start, and a blue line from the end.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The cost of traversing the remaining gap will always be 0.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5" name="Google Shape;13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213" y="2188125"/>
            <a:ext cx="33337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9613" y="2192875"/>
            <a:ext cx="3305175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/>
        </p:nvSpPr>
        <p:spPr>
          <a:xfrm>
            <a:off x="0" y="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 b="1">
                <a:solidFill>
                  <a:schemeClr val="dk1"/>
                </a:solidFill>
              </a:rPr>
              <a:t>Fourth realization:</a:t>
            </a:r>
            <a:endParaRPr/>
          </a:p>
        </p:txBody>
      </p:sp>
      <p:pic>
        <p:nvPicPr>
          <p:cNvPr id="142" name="Google Shape;14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137" y="2107525"/>
            <a:ext cx="3785887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2950" y="2080850"/>
            <a:ext cx="3441914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/>
        </p:nvSpPr>
        <p:spPr>
          <a:xfrm>
            <a:off x="0" y="461700"/>
            <a:ext cx="91440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Either subproblem can be split into smaller grids. 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In each grid, the top left perimeter is the second cheapest row and column, and the bottom right is the cheapest.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Starting from the top left corner the cheapest way to anywhere on the perimeter is to follow the perimeter.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As such, exiting the grid always means passing through another corner.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Once the corner is reached however, this marks the start of a new such subgrid.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This means we only consider turning once reaching a new column or row that is the cheapest so far.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/>
        </p:nvSpPr>
        <p:spPr>
          <a:xfrm>
            <a:off x="0" y="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 b="1">
                <a:solidFill>
                  <a:schemeClr val="dk1"/>
                </a:solidFill>
              </a:rPr>
              <a:t>Complexity and threading:</a:t>
            </a:r>
            <a:endParaRPr/>
          </a:p>
        </p:txBody>
      </p:sp>
      <p:pic>
        <p:nvPicPr>
          <p:cNvPr id="150" name="Google Shape;150;p21"/>
          <p:cNvPicPr preferRelativeResize="0"/>
          <p:nvPr/>
        </p:nvPicPr>
        <p:blipFill rotWithShape="1">
          <a:blip r:embed="rId3">
            <a:alphaModFix/>
          </a:blip>
          <a:srcRect l="5771" t="5665" r="5576" b="5683"/>
          <a:stretch/>
        </p:blipFill>
        <p:spPr>
          <a:xfrm>
            <a:off x="2927137" y="1795050"/>
            <a:ext cx="3289726" cy="328972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/>
          <p:nvPr/>
        </p:nvSpPr>
        <p:spPr>
          <a:xfrm>
            <a:off x="2957125" y="1831325"/>
            <a:ext cx="1680900" cy="1605600"/>
          </a:xfrm>
          <a:prstGeom prst="rect">
            <a:avLst/>
          </a:prstGeom>
          <a:solidFill>
            <a:srgbClr val="FF0000">
              <a:alpha val="20000"/>
            </a:srgbClr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4638025" y="3436925"/>
            <a:ext cx="1539000" cy="1605600"/>
          </a:xfrm>
          <a:prstGeom prst="rect">
            <a:avLst/>
          </a:prstGeom>
          <a:solidFill>
            <a:srgbClr val="0000FF">
              <a:alpha val="20000"/>
            </a:srgbClr>
          </a:solidFill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3" name="Google Shape;153;p21"/>
          <p:cNvCxnSpPr/>
          <p:nvPr/>
        </p:nvCxnSpPr>
        <p:spPr>
          <a:xfrm>
            <a:off x="4633332" y="4852250"/>
            <a:ext cx="1531500" cy="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" name="Google Shape;154;p21"/>
          <p:cNvCxnSpPr/>
          <p:nvPr/>
        </p:nvCxnSpPr>
        <p:spPr>
          <a:xfrm rot="10800000" flipH="1">
            <a:off x="4623993" y="4343200"/>
            <a:ext cx="1568700" cy="48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" name="Google Shape;155;p21"/>
          <p:cNvCxnSpPr/>
          <p:nvPr/>
        </p:nvCxnSpPr>
        <p:spPr>
          <a:xfrm rot="10800000" flipH="1">
            <a:off x="4624071" y="3887663"/>
            <a:ext cx="1568700" cy="48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" name="Google Shape;156;p21"/>
          <p:cNvCxnSpPr/>
          <p:nvPr/>
        </p:nvCxnSpPr>
        <p:spPr>
          <a:xfrm>
            <a:off x="6043400" y="3448325"/>
            <a:ext cx="4800" cy="15828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21"/>
          <p:cNvCxnSpPr/>
          <p:nvPr/>
        </p:nvCxnSpPr>
        <p:spPr>
          <a:xfrm>
            <a:off x="5532775" y="3448325"/>
            <a:ext cx="4800" cy="15828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3152700" y="1832375"/>
            <a:ext cx="0" cy="16014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" name="Google Shape;159;p21"/>
          <p:cNvCxnSpPr/>
          <p:nvPr/>
        </p:nvCxnSpPr>
        <p:spPr>
          <a:xfrm rot="10800000" flipH="1">
            <a:off x="2965925" y="2023675"/>
            <a:ext cx="1671600" cy="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" name="Google Shape;160;p21"/>
          <p:cNvCxnSpPr/>
          <p:nvPr/>
        </p:nvCxnSpPr>
        <p:spPr>
          <a:xfrm>
            <a:off x="2965925" y="2411350"/>
            <a:ext cx="1666800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" name="Google Shape;161;p21"/>
          <p:cNvCxnSpPr/>
          <p:nvPr/>
        </p:nvCxnSpPr>
        <p:spPr>
          <a:xfrm>
            <a:off x="3927775" y="1846375"/>
            <a:ext cx="4800" cy="1592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1"/>
          <p:cNvSpPr txBox="1"/>
          <p:nvPr/>
        </p:nvSpPr>
        <p:spPr>
          <a:xfrm>
            <a:off x="0" y="368863"/>
            <a:ext cx="9144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Summing values, normalizing, finding increasingly smaller values. O(N)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4 threads, one for each array in each direction. More threads by chunking.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4 threads for consolidating the chunks. O(ln(N))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2 Threads for final pathfinding, one per subproblem. O((ln(N))</a:t>
            </a:r>
            <a:r>
              <a:rPr lang="sv" baseline="30000">
                <a:solidFill>
                  <a:schemeClr val="dk1"/>
                </a:solidFill>
              </a:rPr>
              <a:t>2</a:t>
            </a:r>
            <a:r>
              <a:rPr lang="sv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/>
        </p:nvSpPr>
        <p:spPr>
          <a:xfrm>
            <a:off x="0" y="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 b="1">
                <a:solidFill>
                  <a:schemeClr val="dk1"/>
                </a:solidFill>
              </a:rPr>
              <a:t>Results: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0" y="394275"/>
            <a:ext cx="91440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Code implementation is valid for N=1,2,10 which are the control values provided by the Euler Problem.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On my device running with N=10</a:t>
            </a:r>
            <a:r>
              <a:rPr lang="sv" baseline="30000">
                <a:solidFill>
                  <a:schemeClr val="dk1"/>
                </a:solidFill>
              </a:rPr>
              <a:t>8</a:t>
            </a:r>
            <a:r>
              <a:rPr lang="sv">
                <a:solidFill>
                  <a:schemeClr val="dk1"/>
                </a:solidFill>
              </a:rPr>
              <a:t> takes 0.16s with 8 threads, or 0.65s with 1 thread.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As computationally, parallelization is near perfect in the costly segment, the algorithm is likely memory bound.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Extrapolating based on tests where N=10</a:t>
            </a:r>
            <a:r>
              <a:rPr lang="sv" baseline="30000">
                <a:solidFill>
                  <a:schemeClr val="dk1"/>
                </a:solidFill>
              </a:rPr>
              <a:t>2</a:t>
            </a:r>
            <a:r>
              <a:rPr lang="sv">
                <a:solidFill>
                  <a:schemeClr val="dk1"/>
                </a:solidFill>
              </a:rPr>
              <a:t>,10</a:t>
            </a:r>
            <a:r>
              <a:rPr lang="sv" baseline="30000">
                <a:solidFill>
                  <a:schemeClr val="dk1"/>
                </a:solidFill>
              </a:rPr>
              <a:t>3</a:t>
            </a:r>
            <a:r>
              <a:rPr lang="sv">
                <a:solidFill>
                  <a:schemeClr val="dk1"/>
                </a:solidFill>
              </a:rPr>
              <a:t>,10</a:t>
            </a:r>
            <a:r>
              <a:rPr lang="sv" baseline="30000">
                <a:solidFill>
                  <a:schemeClr val="dk1"/>
                </a:solidFill>
              </a:rPr>
              <a:t>4</a:t>
            </a:r>
            <a:r>
              <a:rPr lang="sv">
                <a:solidFill>
                  <a:schemeClr val="dk1"/>
                </a:solidFill>
              </a:rPr>
              <a:t>, a dynamic programming approach is expected to take 2 years.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My device does not allow running for N=2.5*10</a:t>
            </a:r>
            <a:r>
              <a:rPr lang="sv" baseline="30000">
                <a:solidFill>
                  <a:schemeClr val="dk1"/>
                </a:solidFill>
              </a:rPr>
              <a:t>8</a:t>
            </a:r>
            <a:r>
              <a:rPr lang="sv">
                <a:solidFill>
                  <a:schemeClr val="dk1"/>
                </a:solidFill>
              </a:rPr>
              <a:t>, likely due to hardware memory limitations.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At N=5*10</a:t>
            </a:r>
            <a:r>
              <a:rPr lang="sv" baseline="30000">
                <a:solidFill>
                  <a:schemeClr val="dk1"/>
                </a:solidFill>
              </a:rPr>
              <a:t>8</a:t>
            </a:r>
            <a:r>
              <a:rPr lang="sv">
                <a:solidFill>
                  <a:schemeClr val="dk1"/>
                </a:solidFill>
              </a:rPr>
              <a:t>, the code does not compile due to memory guardrails.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As such, we can extrapolate sub-second speeds for every possible input size.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9" name="Google Shape;16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39875"/>
            <a:ext cx="4227668" cy="275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2468" y="2239875"/>
            <a:ext cx="4050415" cy="275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/>
          <p:nvPr/>
        </p:nvSpPr>
        <p:spPr>
          <a:xfrm>
            <a:off x="0" y="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 b="1">
                <a:solidFill>
                  <a:schemeClr val="dk1"/>
                </a:solidFill>
              </a:rPr>
              <a:t>Executables:</a:t>
            </a:r>
            <a:endParaRPr/>
          </a:p>
        </p:txBody>
      </p:sp>
      <p:sp>
        <p:nvSpPr>
          <p:cNvPr id="176" name="Google Shape;176;p23"/>
          <p:cNvSpPr txBox="1"/>
          <p:nvPr/>
        </p:nvSpPr>
        <p:spPr>
          <a:xfrm>
            <a:off x="0" y="394275"/>
            <a:ext cx="91440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MatrixTraversal: Calculates and prints the cost for N=10</a:t>
            </a:r>
            <a:r>
              <a:rPr lang="sv" baseline="30000">
                <a:solidFill>
                  <a:schemeClr val="dk1"/>
                </a:solidFill>
              </a:rPr>
              <a:t>8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MatrixTraversalAccuracy: Prints calculated and expected values for N=1,2,10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MatrixTraversalTiming: Times the code with and without threading for N=10</a:t>
            </a:r>
            <a:r>
              <a:rPr lang="sv" baseline="30000">
                <a:solidFill>
                  <a:schemeClr val="dk1"/>
                </a:solidFill>
              </a:rPr>
              <a:t>8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>
                <a:solidFill>
                  <a:schemeClr val="dk1"/>
                </a:solidFill>
              </a:rPr>
              <a:t>MatrixTraversalComparison: Times this solution, and dynamic programming for N=10</a:t>
            </a:r>
            <a:r>
              <a:rPr lang="sv" baseline="30000">
                <a:solidFill>
                  <a:schemeClr val="dk1"/>
                </a:solidFill>
              </a:rPr>
              <a:t>2</a:t>
            </a:r>
            <a:r>
              <a:rPr lang="sv">
                <a:solidFill>
                  <a:schemeClr val="dk1"/>
                </a:solidFill>
              </a:rPr>
              <a:t>,10</a:t>
            </a:r>
            <a:r>
              <a:rPr lang="sv" baseline="30000">
                <a:solidFill>
                  <a:schemeClr val="dk1"/>
                </a:solidFill>
              </a:rPr>
              <a:t>3</a:t>
            </a:r>
            <a:r>
              <a:rPr lang="sv">
                <a:solidFill>
                  <a:schemeClr val="dk1"/>
                </a:solidFill>
              </a:rPr>
              <a:t>,10</a:t>
            </a:r>
            <a:r>
              <a:rPr lang="sv" baseline="30000">
                <a:solidFill>
                  <a:schemeClr val="dk1"/>
                </a:solidFill>
              </a:rPr>
              <a:t>4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aseline="300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0" y="265915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 b="1">
                <a:solidFill>
                  <a:schemeClr val="dk1"/>
                </a:solidFill>
              </a:rPr>
              <a:t>Thank you!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755</Words>
  <Application>Microsoft Office PowerPoint</Application>
  <PresentationFormat>On-screen Show (16:9)</PresentationFormat>
  <Paragraphs>117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Final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Ivar Boström</cp:lastModifiedBy>
  <cp:revision>1</cp:revision>
  <dcterms:modified xsi:type="dcterms:W3CDTF">2026-06-17T16:09:01Z</dcterms:modified>
</cp:coreProperties>
</file>